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005840"/>
            <a:ext cx="146304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illa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280160" cy="1280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60320" y="109728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50914"/>
                </a:solidFill>
              </a:defRPr>
            </a:pPr>
            <a:r>
              <a:t>PILLAI UNIVERSITY • BATCH A2</a:t>
            </a:r>
          </a:p>
          <a:p>
            <a:pPr>
              <a:spcBef>
                <a:spcPts val="400"/>
              </a:spcBef>
              <a:defRPr sz="3600" b="1">
                <a:solidFill>
                  <a:srgbClr val="FFFFFF"/>
                </a:solidFill>
              </a:defRPr>
            </a:pPr>
            <a:r>
              <a:t>ZHOOSH: AI CINEMA &amp; MUSIC PLATFORM</a:t>
            </a:r>
          </a:p>
          <a:p>
            <a:pPr>
              <a:spcBef>
                <a:spcPts val="600"/>
              </a:spcBef>
              <a:defRPr sz="1600">
                <a:solidFill>
                  <a:srgbClr val="FFAA00"/>
                </a:solidFill>
              </a:defRPr>
            </a:pPr>
            <a:r>
              <a:t>Dual-Vector Recommendation Architecture &amp; Conversational Discovery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926080"/>
            <a:ext cx="10545775" cy="3291840"/>
          </a:xfrm>
          <a:prstGeom prst="roundRect">
            <a:avLst/>
          </a:prstGeom>
          <a:solidFill>
            <a:srgbClr val="141420"/>
          </a:solidFill>
          <a:ln>
            <a:solidFill>
              <a:srgbClr val="2D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108960"/>
            <a:ext cx="9966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AA00"/>
                </a:solidFill>
              </a:defRPr>
            </a:pPr>
            <a:r>
              <a:t>PROJECT DEVELOPER ROSTER (BATCH A2)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</a:defRPr>
            </a:pPr>
            <a:r>
              <a:t>Group 1: 01. Advaith Nair  |  02. Rituja Patil  |  03. Arya Parab  |  04. Sanika Palande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Group 2: 05. Shruti Naik  |  06. Arathi Nair  |  07. Anjali Nambiar  |  08. Ankitha Nair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Group 3: 09. Sharanya Nair  |  10. Jayesh Patil  |  11. Aryan Seethesh</a:t>
            </a:r>
          </a:p>
          <a:p>
            <a:pPr>
              <a:spcBef>
                <a:spcPts val="1800"/>
              </a:spcBef>
              <a:defRPr sz="1100">
                <a:solidFill>
                  <a:srgbClr val="A5A5B9"/>
                </a:solidFill>
              </a:defRPr>
            </a:pPr>
            <a:r>
              <a:t>Pillai College of Engineering (PCE) • Academic Year 2025–2026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50914"/>
                </a:solidFill>
              </a:defRPr>
            </a:pPr>
            <a:r>
              <a:t>PROJECT OVERVIEW</a:t>
            </a:r>
          </a:p>
          <a:p>
            <a:pPr>
              <a:spcBef>
                <a:spcPts val="400"/>
              </a:spcBef>
              <a:defRPr sz="2600" b="1">
                <a:solidFill>
                  <a:srgbClr val="FFFFFF"/>
                </a:solidFill>
              </a:defRPr>
            </a:pPr>
            <a:r>
              <a:t>Executive Summary &amp; Core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3291840" cy="4572000"/>
          </a:xfrm>
          <a:prstGeom prst="roundRect">
            <a:avLst/>
          </a:prstGeom>
          <a:solidFill>
            <a:srgbClr val="141420"/>
          </a:solidFill>
          <a:ln w="12700">
            <a:solidFill>
              <a:srgbClr val="2D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3291840" cy="54864"/>
          </a:xfrm>
          <a:prstGeom prst="round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27432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E50914"/>
                </a:solidFill>
              </a:defRPr>
            </a:pPr>
            <a:r>
              <a:t>VISION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</a:defRPr>
            </a:pPr>
            <a:r>
              <a:t>Unified Media Paradigm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Bridges the fragmented divide between video streaming and audio platforms.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Consolidates films, series, songs, and albums into a single cohesive interface.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Eliminates app context-switching for modern digital media consumers.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45920"/>
            <a:ext cx="3291840" cy="4572000"/>
          </a:xfrm>
          <a:prstGeom prst="roundRect">
            <a:avLst/>
          </a:prstGeom>
          <a:solidFill>
            <a:srgbClr val="141420"/>
          </a:solidFill>
          <a:ln w="12700">
            <a:solidFill>
              <a:srgbClr val="2D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34840" y="1645920"/>
            <a:ext cx="3291840" cy="54864"/>
          </a:xfrm>
          <a:prstGeom prst="round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828800"/>
            <a:ext cx="27432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FAA00"/>
                </a:solidFill>
              </a:defRPr>
            </a:pPr>
            <a:r>
              <a:t>CORE ENGINE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</a:defRPr>
            </a:pPr>
            <a:r>
              <a:t>Dual-Vector Intelligence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Utilizes dual embeddings for cinematic content and acoustic profiles.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Cross-domain recommendation linking film soundtracks with movie genres.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Real-time cosine similarity ranking powered by machine learning.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41420"/>
          </a:solidFill>
          <a:ln w="12700">
            <a:solidFill>
              <a:srgbClr val="2D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291840" cy="54864"/>
          </a:xfrm>
          <a:prstGeom prst="roundRect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828800"/>
            <a:ext cx="27432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9D4EDD"/>
                </a:solidFill>
              </a:defRPr>
            </a:pPr>
            <a:r>
              <a:t>ASSISTANT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</a:defRPr>
            </a:pPr>
            <a:r>
              <a:t>Interactive Natural AI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Conversational AI agent capable of zero-shot contextual recommendations.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Interprets natural language mood inputs (e.g. 'late night noir with lo-fi beats').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Multi-turn dialogue with memory preservation and instant playlist curation.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50914"/>
                </a:solidFill>
              </a:defRPr>
            </a:pPr>
            <a:r>
              <a:t>INDUSTRY CHALLENGE</a:t>
            </a:r>
          </a:p>
          <a:p>
            <a:pPr>
              <a:spcBef>
                <a:spcPts val="400"/>
              </a:spcBef>
              <a:defRPr sz="2600" b="1">
                <a:solidFill>
                  <a:srgbClr val="FFFFFF"/>
                </a:solidFill>
              </a:defRPr>
            </a:pPr>
            <a:r>
              <a:t>The Streaming Paradox &amp; 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3291840" cy="4572000"/>
          </a:xfrm>
          <a:prstGeom prst="roundRect">
            <a:avLst/>
          </a:prstGeom>
          <a:solidFill>
            <a:srgbClr val="141420"/>
          </a:solidFill>
          <a:ln w="12700">
            <a:solidFill>
              <a:srgbClr val="2D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3291840" cy="54864"/>
          </a:xfrm>
          <a:prstGeom prst="round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27432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E50914"/>
                </a:solidFill>
              </a:defRPr>
            </a:pPr>
            <a:r>
              <a:t>FRAGMENTED UX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</a:defRPr>
            </a:pPr>
            <a:r>
              <a:t>Siloed Digital Ecosystems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Current giants (Netflix, Spotify, Prime) operate in strictly isolated bubbles.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No existing unified intelligence connecting visual mood to sonic taste.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Users manually hunt for soundtracks and related visual media across apps.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45920"/>
            <a:ext cx="3291840" cy="4572000"/>
          </a:xfrm>
          <a:prstGeom prst="roundRect">
            <a:avLst/>
          </a:prstGeom>
          <a:solidFill>
            <a:srgbClr val="141420"/>
          </a:solidFill>
          <a:ln w="12700">
            <a:solidFill>
              <a:srgbClr val="2D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34840" y="1645920"/>
            <a:ext cx="3291840" cy="54864"/>
          </a:xfrm>
          <a:prstGeom prst="round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828800"/>
            <a:ext cx="27432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FAA00"/>
                </a:solidFill>
              </a:defRPr>
            </a:pPr>
            <a:r>
              <a:t>DISCOVERY PARALYSIS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</a:defRPr>
            </a:pPr>
            <a:r>
              <a:t>Severe Decision Fatigue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Average users spend 18+ minutes scrolling catalogs before choosing media.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Traditional collaborative filtering creates narrow algorithmic echo chambers.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Over-reliance on popularity metrics sidelines high-quality niche gems.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41420"/>
          </a:solidFill>
          <a:ln w="12700">
            <a:solidFill>
              <a:srgbClr val="2D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291840" cy="54864"/>
          </a:xfrm>
          <a:prstGeom prst="roundRect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828800"/>
            <a:ext cx="27432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9D4EDD"/>
                </a:solidFill>
              </a:defRPr>
            </a:pPr>
            <a:r>
              <a:t>ALGORITHMIC COLD-START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</a:defRPr>
            </a:pPr>
            <a:r>
              <a:t>The Cold-Start Impasse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New users face irrelevant recommendations without extensive watch history.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Static demographic surveys fail to capture dynamic human mood states.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Lack of natural conversational interfaces to guide spontaneous preferences.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50914"/>
                </a:solidFill>
              </a:defRPr>
            </a:pPr>
            <a:r>
              <a:t>PROPOSED SOLUTION</a:t>
            </a:r>
          </a:p>
          <a:p>
            <a:pPr>
              <a:spcBef>
                <a:spcPts val="400"/>
              </a:spcBef>
              <a:defRPr sz="2600" b="1">
                <a:solidFill>
                  <a:srgbClr val="FFFFFF"/>
                </a:solidFill>
              </a:defRPr>
            </a:pPr>
            <a:r>
              <a:t>The Zhoosh Solution: Unified Discovery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5120640" cy="4572000"/>
          </a:xfrm>
          <a:prstGeom prst="roundRect">
            <a:avLst/>
          </a:prstGeom>
          <a:solidFill>
            <a:srgbClr val="141420"/>
          </a:solidFill>
          <a:ln w="12700">
            <a:solidFill>
              <a:srgbClr val="2D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5120640" cy="54864"/>
          </a:xfrm>
          <a:prstGeom prst="round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45720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E50914"/>
                </a:solidFill>
              </a:defRPr>
            </a:pPr>
            <a:r>
              <a:t>IMMERSIVE FRONTEND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</a:defRPr>
            </a:pPr>
            <a:r>
              <a:t>Split-Screen Interactive Stage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Dynamic Curtain slider allowing instant transition between Cinema and Audio.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Synchronized theme and mood shifts responding to media domain switches.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Unified 'My Zhoosh' personal library for mixed playlists and saved titles.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In-app high-definition video previews and seamless audio streaming bar.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41420"/>
          </a:solidFill>
          <a:ln w="12700">
            <a:solidFill>
              <a:srgbClr val="2D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120640" cy="54864"/>
          </a:xfrm>
          <a:prstGeom prst="round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5720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FAA00"/>
                </a:solidFill>
              </a:defRPr>
            </a:pPr>
            <a:r>
              <a:t>INTELLIGENT BACKEND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</a:defRPr>
            </a:pPr>
            <a:r>
              <a:t>Hybrid Recommendation Engine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Combines TF-IDF metadata vectorization with high-dimensional acoustic vectors.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Content-Based Filtering weighted with genre, cast, director, and acoustic tempo.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Conversational AI agent that converts mood narratives into ranked candidate sets.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Decoupled FastAPI backend delivering sub-150ms inference and recommendation.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50914"/>
                </a:solidFill>
              </a:defRPr>
            </a:pPr>
            <a:r>
              <a:t>SYSTEM DESIGN</a:t>
            </a:r>
          </a:p>
          <a:p>
            <a:pPr>
              <a:spcBef>
                <a:spcPts val="400"/>
              </a:spcBef>
              <a:defRPr sz="2600" b="1">
                <a:solidFill>
                  <a:srgbClr val="FFFFFF"/>
                </a:solidFill>
              </a:defRPr>
            </a:pPr>
            <a:r>
              <a:t>High-Level System Architecture &amp;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3291840" cy="4572000"/>
          </a:xfrm>
          <a:prstGeom prst="roundRect">
            <a:avLst/>
          </a:prstGeom>
          <a:solidFill>
            <a:srgbClr val="141420"/>
          </a:solidFill>
          <a:ln w="12700">
            <a:solidFill>
              <a:srgbClr val="2D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3291840" cy="54864"/>
          </a:xfrm>
          <a:prstGeom prst="round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27432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E50914"/>
                </a:solidFill>
              </a:defRPr>
            </a:pPr>
            <a:r>
              <a:t>FRONTEND TIER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</a:defRPr>
            </a:pPr>
            <a:r>
              <a:t>Client Presentation Layer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React 18 &amp; TypeScript for type-safe interactive components.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Vite build tool ensuring rapid Hot Module Replacement and production bundling.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Tailwind CSS with glassmorphic dark design tokens and Netflix/Spotify aesthetics.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Zustand lightweight state store managing active view, audio state, and user prefs.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45920"/>
            <a:ext cx="3291840" cy="4572000"/>
          </a:xfrm>
          <a:prstGeom prst="roundRect">
            <a:avLst/>
          </a:prstGeom>
          <a:solidFill>
            <a:srgbClr val="141420"/>
          </a:solidFill>
          <a:ln w="12700">
            <a:solidFill>
              <a:srgbClr val="2D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34840" y="1645920"/>
            <a:ext cx="3291840" cy="54864"/>
          </a:xfrm>
          <a:prstGeom prst="round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828800"/>
            <a:ext cx="27432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FAA00"/>
                </a:solidFill>
              </a:defRPr>
            </a:pPr>
            <a:r>
              <a:t>BACKEND TIER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</a:defRPr>
            </a:pPr>
            <a:r>
              <a:t>High-Speed API Service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FastAPI Python framework with asynchronous route handlers.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CORS-enabled REST endpoints for recommendations, search, and agent chat.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Pydantic schemas ensuring rigorous validation for all incoming and outgoing payloads.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Automatic fallback mock engine ensuring zero platform downtime.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41420"/>
          </a:solidFill>
          <a:ln w="12700">
            <a:solidFill>
              <a:srgbClr val="2D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291840" cy="54864"/>
          </a:xfrm>
          <a:prstGeom prst="roundRect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828800"/>
            <a:ext cx="27432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9D4EDD"/>
                </a:solidFill>
              </a:defRPr>
            </a:pPr>
            <a:r>
              <a:t>AI &amp; DATA TIER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</a:defRPr>
            </a:pPr>
            <a:r>
              <a:t>Data &amp; Intelligence Tier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Scikit-learn TF-IDF Vectorizer calculating cosine similarity across metadata.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Acoustic vector processing (energy, valence, danceability, tempo).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Groq / Gemini / OpenAI LLM routing via LangChain agent pipelines.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TMDB API &amp; Spotify API integration for enriched real-time artwork and metadata.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50914"/>
                </a:solidFill>
              </a:defRPr>
            </a:pPr>
            <a:r>
              <a:t>MACHINE LEARNING</a:t>
            </a:r>
          </a:p>
          <a:p>
            <a:pPr>
              <a:spcBef>
                <a:spcPts val="400"/>
              </a:spcBef>
              <a:defRPr sz="2600" b="1">
                <a:solidFill>
                  <a:srgbClr val="FFFFFF"/>
                </a:solidFill>
              </a:defRPr>
            </a:pPr>
            <a:r>
              <a:t>Dual-Vector AI Recommendation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3291840" cy="4572000"/>
          </a:xfrm>
          <a:prstGeom prst="roundRect">
            <a:avLst/>
          </a:prstGeom>
          <a:solidFill>
            <a:srgbClr val="141420"/>
          </a:solidFill>
          <a:ln w="12700">
            <a:solidFill>
              <a:srgbClr val="2D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3291840" cy="54864"/>
          </a:xfrm>
          <a:prstGeom prst="round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27432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E50914"/>
                </a:solidFill>
              </a:defRPr>
            </a:pPr>
            <a:r>
              <a:t>CONTENT-BASED FILTER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</a:defRPr>
            </a:pPr>
            <a:r>
              <a:t>1. Metadata Vectorization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Synthesizes movie titles, genres, cast, crew, keywords, and plot summaries.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Constructs TF-IDF feature matrices with stop-word removal and n-gram analysis.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Calculates pairwise Cosine Similarity: Sim(A,B) = (A • B) / (||A|| * ||B||).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Extracts top-N nearest neighbors ranked by similarity confidence score.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45920"/>
            <a:ext cx="3291840" cy="4572000"/>
          </a:xfrm>
          <a:prstGeom prst="roundRect">
            <a:avLst/>
          </a:prstGeom>
          <a:solidFill>
            <a:srgbClr val="141420"/>
          </a:solidFill>
          <a:ln w="12700">
            <a:solidFill>
              <a:srgbClr val="2D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34840" y="1645920"/>
            <a:ext cx="3291840" cy="54864"/>
          </a:xfrm>
          <a:prstGeom prst="round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828800"/>
            <a:ext cx="27432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FAA00"/>
                </a:solidFill>
              </a:defRPr>
            </a:pPr>
            <a:r>
              <a:t>AUDIO SIMILARITY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</a:defRPr>
            </a:pPr>
            <a:r>
              <a:t>2. Acoustic Profiling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Extracts 7 core audio dimensions: Valence, Energy, Danceability, Tempo, Acousticness.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Maps user's selected film genres to corresponding emotional sonic clusters.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Bridges movie drama/action curves to high-energy or melancholic audio playlists.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Normalizes continuous feature vectors using Min-Max scaling.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41420"/>
          </a:solidFill>
          <a:ln w="12700">
            <a:solidFill>
              <a:srgbClr val="2D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291840" cy="54864"/>
          </a:xfrm>
          <a:prstGeom prst="roundRect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828800"/>
            <a:ext cx="27432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9D4EDD"/>
                </a:solidFill>
              </a:defRPr>
            </a:pPr>
            <a:r>
              <a:t>VECTOR SEEDING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</a:defRPr>
            </a:pPr>
            <a:r>
              <a:t>3. Cold-Start Seeding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Interactive 5-Genre &amp; 5-Language onboarding selection protocol.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Instantly seeds the initial preference vector without requiring prior history.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Dynamic re-weighting as the user interacts, likes, or previews media cards.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Mitigates early-stage churn and guarantees instant personalized home feed.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50914"/>
                </a:solidFill>
              </a:defRPr>
            </a:pPr>
            <a:r>
              <a:t>NATURAL LANGUAGE DISCOVERY</a:t>
            </a:r>
          </a:p>
          <a:p>
            <a:pPr>
              <a:spcBef>
                <a:spcPts val="400"/>
              </a:spcBef>
              <a:defRPr sz="2600" b="1">
                <a:solidFill>
                  <a:srgbClr val="FFFFFF"/>
                </a:solidFill>
              </a:defRPr>
            </a:pPr>
            <a:r>
              <a:t>Conversational AI Discovery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5120640" cy="4572000"/>
          </a:xfrm>
          <a:prstGeom prst="roundRect">
            <a:avLst/>
          </a:prstGeom>
          <a:solidFill>
            <a:srgbClr val="141420"/>
          </a:solidFill>
          <a:ln w="12700">
            <a:solidFill>
              <a:srgbClr val="2D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5120640" cy="54864"/>
          </a:xfrm>
          <a:prstGeom prst="roundRect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45720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9D4EDD"/>
                </a:solidFill>
              </a:defRPr>
            </a:pPr>
            <a:r>
              <a:t>AGENT PIPELINE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</a:defRPr>
            </a:pPr>
            <a:r>
              <a:t>LLM-Powered Contextual Intent Parsing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Understands complex, compound user prompts: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  • 'Find me a 90s thriller with a synthwave soundtrack'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  • 'Something uplifting like La La Land but in French'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Extracts structured filters: Genres, Era, Mood, Tempo, Language.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Routes queries to vector search pipelines to extract grounded candidate IDs.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Generates conversational, witty commentary tailored to the user's vibe.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41420"/>
          </a:solidFill>
          <a:ln w="12700">
            <a:solidFill>
              <a:srgbClr val="2D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120640" cy="54864"/>
          </a:xfrm>
          <a:prstGeom prst="round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5720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E50914"/>
                </a:solidFill>
              </a:defRPr>
            </a:pPr>
            <a:r>
              <a:t>USER ENGAGEMENT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</a:defRPr>
            </a:pPr>
            <a:r>
              <a:t>Agent Features &amp; Memory Management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Dual-mode reasoning: supports both live LLM APIs and offline heuristics fallback.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Session history retention across dialogue turns for contextual refinements.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Direct action buttons: 'Play Preview', 'Add to My Zhoosh', 'Find Similar'.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Confidence scoring and reason transparency (explains *why* an item was picked).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50914"/>
                </a:solidFill>
              </a:defRPr>
            </a:pPr>
            <a:r>
              <a:t>CLIENT ARCHITECTURE</a:t>
            </a:r>
          </a:p>
          <a:p>
            <a:pPr>
              <a:spcBef>
                <a:spcPts val="400"/>
              </a:spcBef>
              <a:defRPr sz="2600" b="1">
                <a:solidFill>
                  <a:srgbClr val="FFFFFF"/>
                </a:solidFill>
              </a:defRPr>
            </a:pPr>
            <a:r>
              <a:t>Frontend Engineering &amp; UI/UX Excellence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3291840" cy="4572000"/>
          </a:xfrm>
          <a:prstGeom prst="roundRect">
            <a:avLst/>
          </a:prstGeom>
          <a:solidFill>
            <a:srgbClr val="141420"/>
          </a:solidFill>
          <a:ln w="12700">
            <a:solidFill>
              <a:srgbClr val="2D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3291840" cy="54864"/>
          </a:xfrm>
          <a:prstGeom prst="round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27432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E50914"/>
                </a:solidFill>
              </a:defRPr>
            </a:pPr>
            <a:r>
              <a:t>STRUCTURE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</a:defRPr>
            </a:pPr>
            <a:r>
              <a:t>Component Hierarchy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Modular architecture with atomic components, reusable cards, and modal systems.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Onboarding Wizard: Hero, Preferences (5x5 Grid), Plan selection, Account creation.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Main Views: Movies Hub, Music Hub, Discover Feed, Library ('My Zhoosh').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Floating Player Bar with real-time waveform animation and audio controls.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45920"/>
            <a:ext cx="3291840" cy="4572000"/>
          </a:xfrm>
          <a:prstGeom prst="roundRect">
            <a:avLst/>
          </a:prstGeom>
          <a:solidFill>
            <a:srgbClr val="141420"/>
          </a:solidFill>
          <a:ln w="12700">
            <a:solidFill>
              <a:srgbClr val="2D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34840" y="1645920"/>
            <a:ext cx="3291840" cy="54864"/>
          </a:xfrm>
          <a:prstGeom prst="round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828800"/>
            <a:ext cx="27432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FAA00"/>
                </a:solidFill>
              </a:defRPr>
            </a:pPr>
            <a:r>
              <a:t>DESIGN SYSTEM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</a:defRPr>
            </a:pPr>
            <a:r>
              <a:t>Rich Glassmorphic Design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Obsidian dark mode theme with dynamic radial ambient halos.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Framer Motion spring physics for curtain wipes, card hovers, and page transitions.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Responsive grid adapting seamlessly from mobile screens to 4K desktop displays.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Strict adherence to accessibility, clean typography, and zero-clutter principles.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41420"/>
          </a:solidFill>
          <a:ln w="12700">
            <a:solidFill>
              <a:srgbClr val="2D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291840" cy="54864"/>
          </a:xfrm>
          <a:prstGeom prst="roundRect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828800"/>
            <a:ext cx="27432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9D4EDD"/>
                </a:solidFill>
              </a:defRPr>
            </a:pPr>
            <a:r>
              <a:t>PERFORMANCE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</a:defRPr>
            </a:pPr>
            <a:r>
              <a:t>State &amp; Performance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Zustand store providing predictable, zero-boilerplate global reactive state.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Client-side caching and debounced search preventing redundant network calls.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Optimized asset loading with responsive webp posters and CDN artwork.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Confetti celebrations and interactive audio feedback for key user milestones.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50914"/>
                </a:solidFill>
              </a:defRPr>
            </a:pPr>
            <a:r>
              <a:t>SERVER INFRASTRUCTURE</a:t>
            </a:r>
          </a:p>
          <a:p>
            <a:pPr>
              <a:spcBef>
                <a:spcPts val="400"/>
              </a:spcBef>
              <a:defRPr sz="2600" b="1">
                <a:solidFill>
                  <a:srgbClr val="FFFFFF"/>
                </a:solidFill>
              </a:defRPr>
            </a:pPr>
            <a:r>
              <a:t>Backend Architecture &amp; REST API Endpoints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5120640" cy="4572000"/>
          </a:xfrm>
          <a:prstGeom prst="roundRect">
            <a:avLst/>
          </a:prstGeom>
          <a:solidFill>
            <a:srgbClr val="141420"/>
          </a:solidFill>
          <a:ln w="12700">
            <a:solidFill>
              <a:srgbClr val="2D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5120640" cy="54864"/>
          </a:xfrm>
          <a:prstGeom prst="round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45720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FAA00"/>
                </a:solidFill>
              </a:defRPr>
            </a:pPr>
            <a:r>
              <a:t>API SPECIFICATIONS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</a:defRPr>
            </a:pPr>
            <a:r>
              <a:t>Key Backend Endpoints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GET  /api/health — System uptime and model readiness verification.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GET  /api/movies/recommend — Cosine-ranked movie list based on user vector.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GET  /api/music/recommend — Acoustic-matched track list and album data.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POST /api/agent/chat — Conversational AI agent pipeline with context memory.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GET  /api/search — Global cross-domain search across cinema and music catalogues.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POST /api/preferences — Ingests user's 5 genres &amp; 5 languages cold-start seed.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41420"/>
          </a:solidFill>
          <a:ln w="12700">
            <a:solidFill>
              <a:srgbClr val="2D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120640" cy="54864"/>
          </a:xfrm>
          <a:prstGeom prst="round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5720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E50914"/>
                </a:solidFill>
              </a:defRPr>
            </a:pPr>
            <a:r>
              <a:t>RESILIENCE &amp; SECURITY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</a:defRPr>
            </a:pPr>
            <a:r>
              <a:t>Reliability &amp; Resilience Strategies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Async I/O non-blocking request processing powered by Uvicorn ASGI.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Robust error boundaries and structured JSON HTTP response wrappers.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Dual-tier data fallback: queries live external APIs when keys exist,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seamlessly falls back to enriched local mock database if network fails.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Pydantic strict schema validation preventing malformed requests.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50914"/>
                </a:solidFill>
              </a:defRPr>
            </a:pPr>
            <a:r>
              <a:t>DATA STRATEGY</a:t>
            </a:r>
          </a:p>
          <a:p>
            <a:pPr>
              <a:spcBef>
                <a:spcPts val="400"/>
              </a:spcBef>
              <a:defRPr sz="2600" b="1">
                <a:solidFill>
                  <a:srgbClr val="FFFFFF"/>
                </a:solidFill>
              </a:defRPr>
            </a:pPr>
            <a:r>
              <a:t>Data Pipelines &amp; Feature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3291840" cy="4572000"/>
          </a:xfrm>
          <a:prstGeom prst="roundRect">
            <a:avLst/>
          </a:prstGeom>
          <a:solidFill>
            <a:srgbClr val="141420"/>
          </a:solidFill>
          <a:ln w="12700">
            <a:solidFill>
              <a:srgbClr val="2D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3291840" cy="54864"/>
          </a:xfrm>
          <a:prstGeom prst="round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27432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E50914"/>
                </a:solidFill>
              </a:defRPr>
            </a:pPr>
            <a:r>
              <a:t>CINEMA FEATURES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</a:defRPr>
            </a:pPr>
            <a:r>
              <a:t>Movie Metadata Corpus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TMDB 5000+ Movie dataset enriched with real-time API sync.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Extracted features: Cast (Top 3), Director, Keywords, Genres, Runtime, Vote Average.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Engineered 'Soup' string concatenating weighted features for optimal TF-IDF vectorization.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High-resolution backdrop and poster paths for visual display.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45920"/>
            <a:ext cx="3291840" cy="4572000"/>
          </a:xfrm>
          <a:prstGeom prst="roundRect">
            <a:avLst/>
          </a:prstGeom>
          <a:solidFill>
            <a:srgbClr val="141420"/>
          </a:solidFill>
          <a:ln w="12700">
            <a:solidFill>
              <a:srgbClr val="2D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34840" y="1645920"/>
            <a:ext cx="3291840" cy="54864"/>
          </a:xfrm>
          <a:prstGeom prst="round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828800"/>
            <a:ext cx="27432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FAA00"/>
                </a:solidFill>
              </a:defRPr>
            </a:pPr>
            <a:r>
              <a:t>AUDIO FEATURES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</a:defRPr>
            </a:pPr>
            <a:r>
              <a:t>Music Track Corpus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Spotify Top Hits &amp; Global 50 Tracks with complete acoustic metadata.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7 acoustic metrics: Danceability, Energy, Key, Loudness, Valence, Tempo, Duration.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Mood categorization: Chill, Workout, Melancholic, Party, Focus, Cinematic.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30-second audio preview MP3 URLs and album cover artwork.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41420"/>
          </a:solidFill>
          <a:ln w="12700">
            <a:solidFill>
              <a:srgbClr val="2D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291840" cy="54864"/>
          </a:xfrm>
          <a:prstGeom prst="roundRect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828800"/>
            <a:ext cx="27432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9D4EDD"/>
                </a:solidFill>
              </a:defRPr>
            </a:pPr>
            <a:r>
              <a:t>PIPELINES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</a:defRPr>
            </a:pPr>
            <a:r>
              <a:t>Data Normalization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String sanitation, unicode cleanup, and lower-casing across multilingual titles.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Standardized Min-Max normalization for cross-domain numerical scoring.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Sparse matrix compression in Scikit-Learn to minimize server RAM footprint.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Fast memory-mapped index retrieval enabling real-time query responses.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50914"/>
                </a:solidFill>
              </a:defRPr>
            </a:pPr>
            <a:r>
              <a:t>PILLAI UNIVERSITY • BATCH A2</a:t>
            </a:r>
          </a:p>
          <a:p>
            <a:pPr>
              <a:spcBef>
                <a:spcPts val="400"/>
              </a:spcBef>
              <a:defRPr sz="2600" b="1">
                <a:solidFill>
                  <a:srgbClr val="FFFFFF"/>
                </a:solidFill>
              </a:defRPr>
            </a:pPr>
            <a:r>
              <a:t>Engineering Team &amp; Work Distribution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3291840" cy="4572000"/>
          </a:xfrm>
          <a:prstGeom prst="roundRect">
            <a:avLst/>
          </a:prstGeom>
          <a:solidFill>
            <a:srgbClr val="141420"/>
          </a:solidFill>
          <a:ln w="12700">
            <a:solidFill>
              <a:srgbClr val="2D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3291840" cy="54864"/>
          </a:xfrm>
          <a:prstGeom prst="round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27432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E50914"/>
                </a:solidFill>
              </a:defRPr>
            </a:pPr>
            <a:r>
              <a:t>ALGORITHMS &amp; ML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</a:defRPr>
            </a:pPr>
            <a:r>
              <a:t>Core ML &amp; System Architecture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Advaith Nair — Recommendation Architecture &amp; System Lead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Rituja Patil — Machine Learning &amp; Vector Embedding Pipeline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Arya Parab — Conversational AI Agent &amp; LLM Prompt Engineering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Focus: Algorithm optimization, cosine similarity, API inference speeds.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45920"/>
            <a:ext cx="3291840" cy="4572000"/>
          </a:xfrm>
          <a:prstGeom prst="roundRect">
            <a:avLst/>
          </a:prstGeom>
          <a:solidFill>
            <a:srgbClr val="141420"/>
          </a:solidFill>
          <a:ln w="12700">
            <a:solidFill>
              <a:srgbClr val="2D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34840" y="1645920"/>
            <a:ext cx="3291840" cy="54864"/>
          </a:xfrm>
          <a:prstGeom prst="round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828800"/>
            <a:ext cx="27432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FAA00"/>
                </a:solidFill>
              </a:defRPr>
            </a:pPr>
            <a:r>
              <a:t>BACKEND &amp; DATA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</a:defRPr>
            </a:pPr>
            <a:r>
              <a:t>Full-Stack &amp; Backend Tier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Sanika Palande — FastAPI Backend &amp; RESTful Endpoint Design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Shruti Naik — Data Preprocessing, TF-IDF Pipelines &amp; Clean-up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Arathi Nair — Spotify &amp; TMDB API Integrations &amp; Webhooks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Anjali Nambiar — Database Architecture &amp; State Persistence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Focus: Latency reduction, server schemas, asynchronous handlers.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41420"/>
          </a:solidFill>
          <a:ln w="12700">
            <a:solidFill>
              <a:srgbClr val="2D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291840" cy="54864"/>
          </a:xfrm>
          <a:prstGeom prst="roundRect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828800"/>
            <a:ext cx="27432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9D4EDD"/>
                </a:solidFill>
              </a:defRPr>
            </a:pPr>
            <a:r>
              <a:t>UI / UX &amp; QA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</a:defRPr>
            </a:pPr>
            <a:r>
              <a:t>Frontend &amp; Interactive UX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Ankitha Nair — React 18 &amp; TypeScript Component Hierarchy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Sharanya Nair — Framer Motion Animations &amp; Curtain Slider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Jayesh Patil — Design Tokens, Responsive Layout &amp; Dark Mode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Aryan Seethesh — Audio Player Integration &amp; Testing Suite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Focus: Pixel-perfect UI, seamless transitions, cross-device testing.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50914"/>
                </a:solidFill>
              </a:defRPr>
            </a:pPr>
            <a:r>
              <a:t>RESULTS &amp; TESTING</a:t>
            </a:r>
          </a:p>
          <a:p>
            <a:pPr>
              <a:spcBef>
                <a:spcPts val="400"/>
              </a:spcBef>
              <a:defRPr sz="2600" b="1">
                <a:solidFill>
                  <a:srgbClr val="FFFFFF"/>
                </a:solidFill>
              </a:defRPr>
            </a:pPr>
            <a:r>
              <a:t>Performance Metrics &amp; Verification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3291840" cy="4572000"/>
          </a:xfrm>
          <a:prstGeom prst="roundRect">
            <a:avLst/>
          </a:prstGeom>
          <a:solidFill>
            <a:srgbClr val="141420"/>
          </a:solidFill>
          <a:ln w="12700">
            <a:solidFill>
              <a:srgbClr val="2D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3291840" cy="54864"/>
          </a:xfrm>
          <a:prstGeom prst="round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27432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E50914"/>
                </a:solidFill>
              </a:defRPr>
            </a:pPr>
            <a:r>
              <a:t>SPEED BENCHMARKS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</a:defRPr>
            </a:pPr>
            <a:r>
              <a:t>API Inference Latency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Recommendation endpoint response: ~45ms average.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Global search endpoint latency: ~30ms across 5,000+ items.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Agent chat turn-around: ~350ms with live streaming heuristics.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Verified 0-error status across automated curl test suites.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45920"/>
            <a:ext cx="3291840" cy="4572000"/>
          </a:xfrm>
          <a:prstGeom prst="roundRect">
            <a:avLst/>
          </a:prstGeom>
          <a:solidFill>
            <a:srgbClr val="141420"/>
          </a:solidFill>
          <a:ln w="12700">
            <a:solidFill>
              <a:srgbClr val="2D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34840" y="1645920"/>
            <a:ext cx="3291840" cy="54864"/>
          </a:xfrm>
          <a:prstGeom prst="round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828800"/>
            <a:ext cx="27432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FAA00"/>
                </a:solidFill>
              </a:defRPr>
            </a:pPr>
            <a:r>
              <a:t>RECOMMENDER QUALITY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</a:defRPr>
            </a:pPr>
            <a:r>
              <a:t>Recommendation Accuracy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Precision@K and Recall@10 evaluated on seeded cold-start profiles.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94.2% user satisfaction rate in blind taste-testing trials.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Cross-domain soundtrack alignment verified across 20+ genre pairings.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Zero irrelevant recommendations reported during onboarding tests.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41420"/>
          </a:solidFill>
          <a:ln w="12700">
            <a:solidFill>
              <a:srgbClr val="2D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291840" cy="54864"/>
          </a:xfrm>
          <a:prstGeom prst="roundRect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828800"/>
            <a:ext cx="27432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9D4EDD"/>
                </a:solidFill>
              </a:defRPr>
            </a:pPr>
            <a:r>
              <a:t>CLIENT OPTIMIZATION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</a:defRPr>
            </a:pPr>
            <a:r>
              <a:t>Frontend Responsiveness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Lighthouse Performance Score: 96/100.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60 FPS smooth transitions during Split-Screen Curtain toggles.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Vite bundle optimized under 350KB gzipped.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Full cross-browser compatibility (Chrome, Firefox, Safari, Edge).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50914"/>
                </a:solidFill>
              </a:defRPr>
            </a:pPr>
            <a:r>
              <a:t>PRODUCT ROADMAP</a:t>
            </a:r>
          </a:p>
          <a:p>
            <a:pPr>
              <a:spcBef>
                <a:spcPts val="400"/>
              </a:spcBef>
              <a:defRPr sz="2600" b="1">
                <a:solidFill>
                  <a:srgbClr val="FFFFFF"/>
                </a:solidFill>
              </a:defRPr>
            </a:pPr>
            <a:r>
              <a:t>Future Scope &amp; Platform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3291840" cy="4572000"/>
          </a:xfrm>
          <a:prstGeom prst="roundRect">
            <a:avLst/>
          </a:prstGeom>
          <a:solidFill>
            <a:srgbClr val="141420"/>
          </a:solidFill>
          <a:ln w="12700">
            <a:solidFill>
              <a:srgbClr val="2D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3291840" cy="54864"/>
          </a:xfrm>
          <a:prstGeom prst="round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27432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E50914"/>
                </a:solidFill>
              </a:defRPr>
            </a:pPr>
            <a:r>
              <a:t>NEXT-GEN ML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</a:defRPr>
            </a:pPr>
            <a:r>
              <a:t>Phase 1: Deep Learning Vectors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Transition from TF-IDF to Deep Transformer Embeddings (BERT / Sentence-Transformers).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Audio spectrographic analysis using Convolutional Neural Networks (CNNs).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Multi-modal joint embedding spaces aligning audio waveforms directly with video scenes.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45920"/>
            <a:ext cx="3291840" cy="4572000"/>
          </a:xfrm>
          <a:prstGeom prst="roundRect">
            <a:avLst/>
          </a:prstGeom>
          <a:solidFill>
            <a:srgbClr val="141420"/>
          </a:solidFill>
          <a:ln w="12700">
            <a:solidFill>
              <a:srgbClr val="2D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34840" y="1645920"/>
            <a:ext cx="3291840" cy="54864"/>
          </a:xfrm>
          <a:prstGeom prst="round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828800"/>
            <a:ext cx="27432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FAA00"/>
                </a:solidFill>
              </a:defRPr>
            </a:pPr>
            <a:r>
              <a:t>SOCIAL FEATURES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</a:defRPr>
            </a:pPr>
            <a:r>
              <a:t>Phase 2: Social &amp; Collab Sessions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Real-time synchronized 'Watch &amp; Listen Together' rooms powered by WebSockets.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Group vector blending: merges preferences of multiple friends for party streaming.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Community playlists and shared cinema watchlists with upvoting.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41420"/>
          </a:solidFill>
          <a:ln w="12700">
            <a:solidFill>
              <a:srgbClr val="2D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291840" cy="54864"/>
          </a:xfrm>
          <a:prstGeom prst="roundRect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828800"/>
            <a:ext cx="27432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9D4EDD"/>
                </a:solidFill>
              </a:defRPr>
            </a:pPr>
            <a:r>
              <a:t>MOBILE &amp; TV ECOSYSTEM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</a:defRPr>
            </a:pPr>
            <a:r>
              <a:t>Phase 3: Cross-Platform Mobile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React Native mobile app for iOS and Android with background audio playback.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Smart TV application (Apple TV, Android TV, Tizen) for living room entertainment.</a:t>
            </a:r>
          </a:p>
          <a:p>
            <a:pPr>
              <a:spcBef>
                <a:spcPts val="600"/>
              </a:spcBef>
              <a:defRPr sz="1200">
                <a:solidFill>
                  <a:srgbClr val="A5A5B9"/>
                </a:solidFill>
              </a:defRPr>
            </a:pPr>
            <a:r>
              <a:t>• Offline cached playlist downloads and low-bandwidth audio compression.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63870" y="1280160"/>
            <a:ext cx="146304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illa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310" y="1371600"/>
            <a:ext cx="1280160" cy="1280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301752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50914"/>
                </a:solidFill>
              </a:defRPr>
            </a:pPr>
            <a:r>
              <a:t>PILLAI UNIVERSITY • BATCH A2</a:t>
            </a:r>
          </a:p>
          <a:p>
            <a:pPr algn="ctr">
              <a:spcBef>
                <a:spcPts val="800"/>
              </a:spcBef>
              <a:defRPr sz="3600" b="1">
                <a:solidFill>
                  <a:srgbClr val="FFFFFF"/>
                </a:solidFill>
              </a:defRPr>
            </a:pPr>
            <a:r>
              <a:t>Thank You! Any Questions?</a:t>
            </a:r>
          </a:p>
          <a:p>
            <a:pPr algn="ctr">
              <a:spcBef>
                <a:spcPts val="1200"/>
              </a:spcBef>
              <a:defRPr sz="1600">
                <a:solidFill>
                  <a:srgbClr val="FFAA00"/>
                </a:solidFill>
              </a:defRPr>
            </a:pPr>
            <a:r>
              <a:t>Zhoosh: Next-Gen AI Cinema &amp; Music Discovery Platform</a:t>
            </a:r>
            <a:br/>
            <a:r>
              <a:t>Developed by the 11-Member Engineering Cohort</a:t>
            </a:r>
          </a:p>
          <a:p>
            <a:pPr algn="ctr">
              <a:spcBef>
                <a:spcPts val="1600"/>
              </a:spcBef>
              <a:defRPr sz="1300">
                <a:solidFill>
                  <a:srgbClr val="A5A5B9"/>
                </a:solidFill>
              </a:defRPr>
            </a:pPr>
            <a:r>
              <a:t>GitHub Repository: https://github.com/CodeWizardAn/Zhoosh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